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webextensions/webextension6.xml" ContentType="application/vnd.ms-office.webextension+xml"/>
  <Override PartName="/ppt/webextensions/webextension7.xml" ContentType="application/vnd.ms-office.webextension+xml"/>
  <Override PartName="/ppt/webextensions/webextension8.xml" ContentType="application/vnd.ms-office.webextension+xml"/>
  <Override PartName="/ppt/webextensions/webextension9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71" r:id="rId6"/>
    <p:sldId id="272" r:id="rId7"/>
    <p:sldId id="273" r:id="rId8"/>
    <p:sldId id="276" r:id="rId9"/>
    <p:sldId id="274" r:id="rId10"/>
    <p:sldId id="280" r:id="rId11"/>
    <p:sldId id="281" r:id="rId12"/>
    <p:sldId id="288" r:id="rId13"/>
    <p:sldId id="28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8DFF"/>
    <a:srgbClr val="3C6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E970C-A965-DCE4-C4DD-09EC4E1AF0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D61272-F266-4EF9-A471-B7DB574DE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73835-CA7E-736B-D7A9-6CEDD19E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3EB7-E4D4-4F2B-BA48-1BF5AFD9F61D}" type="datetimeFigureOut">
              <a:rPr lang="en-US" smtClean="0"/>
              <a:t>26-Feb-23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4A984-F77D-633D-5F09-BE997C65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EC5D6-F102-FAAA-9CB2-E38F471D9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2951-63DE-4CF1-84EA-BA2AFE63E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57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9BBEA-C867-6F7E-3D9C-7B11BB556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4F529-6ABC-136C-F051-D10DDB50A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A1019-AF54-C0C0-BDE3-89179265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3EB7-E4D4-4F2B-BA48-1BF5AFD9F61D}" type="datetimeFigureOut">
              <a:rPr lang="en-US" smtClean="0"/>
              <a:t>26-Feb-23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0F646-9007-1F2C-8B51-C7347F99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B5AE1-297C-D89D-78B3-D47B25AFB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2951-63DE-4CF1-84EA-BA2AFE63E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397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5D815-B605-80DC-79BE-EAB080704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2D830-375C-F0E5-A827-B6E2B0A9C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DA0DD-8D6B-F989-C500-574502DD4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3EB7-E4D4-4F2B-BA48-1BF5AFD9F61D}" type="datetimeFigureOut">
              <a:rPr lang="en-US" smtClean="0"/>
              <a:t>26-Feb-23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24117-E727-7498-10A9-609E43992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B05AA-D368-EE20-C0ED-331FA837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2951-63DE-4CF1-84EA-BA2AFE63E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0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63F57-44FB-D8CA-9DF3-D919AA07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D8568-F328-073B-37AA-332E4F0EA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707D32-ACE2-4C70-249E-5D4785134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2A4B6-8D0B-214C-3251-C0A41EF3E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3EB7-E4D4-4F2B-BA48-1BF5AFD9F61D}" type="datetimeFigureOut">
              <a:rPr lang="en-US" smtClean="0"/>
              <a:t>26-Feb-23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F5EEF-D56D-03FE-B734-79B2571EB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1A93C-4C5C-8E4A-05F5-3356D72DC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2951-63DE-4CF1-84EA-BA2AFE63E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9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BB83-26F2-9A92-38D7-AD0A52FAB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7E90F-2838-E4C7-528A-E86D72DDB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DD1DF-DBD3-93A9-1B9C-A4C172D21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35243-D6DC-857E-DABC-5DFBC5955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CB0AFF-4D4F-86C5-A84C-F61DFDE5E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432685-78CC-A686-3EF6-1FF473D68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3EB7-E4D4-4F2B-BA48-1BF5AFD9F61D}" type="datetimeFigureOut">
              <a:rPr lang="en-US" smtClean="0"/>
              <a:t>26-Feb-23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445CC5-EFBD-DE36-F7E4-133577D39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EE99A3-34F7-D3EF-6180-7FCACEFAB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2951-63DE-4CF1-84EA-BA2AFE63E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796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092D8-CC21-CC86-A947-1D33909C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B338A7-E7E2-F4F4-2452-12D6E03E6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3EB7-E4D4-4F2B-BA48-1BF5AFD9F61D}" type="datetimeFigureOut">
              <a:rPr lang="en-US" smtClean="0"/>
              <a:t>26-Feb-23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3603A8-ED03-B675-B117-0A7A54911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4AF25-08A8-39D2-BEF7-21ABAEF9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2951-63DE-4CF1-84EA-BA2AFE63E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3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27F17A-69AB-F4EA-C639-EDE52F39B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3EB7-E4D4-4F2B-BA48-1BF5AFD9F61D}" type="datetimeFigureOut">
              <a:rPr lang="en-US" smtClean="0"/>
              <a:t>26-Feb-23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13C4C-EE07-C27A-2CE9-13A79A744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73392-3A99-277A-FAC6-2BBAF4B15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2951-63DE-4CF1-84EA-BA2AFE63E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20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9A92-8E9B-5A0C-B6DB-F81742A8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78EC0-6C25-185E-9264-55B2A78F4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07BE2F-4618-298E-CA5F-04EC5E0A2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F126C-7A1D-09FB-D01D-68C6CE76B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3EB7-E4D4-4F2B-BA48-1BF5AFD9F61D}" type="datetimeFigureOut">
              <a:rPr lang="en-US" smtClean="0"/>
              <a:t>26-Feb-23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2DBBB-FE57-55BE-6B85-C83D9B9D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76F41-A50E-7789-4AA0-23F9D0D2B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2951-63DE-4CF1-84EA-BA2AFE63E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3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BCC16-C61C-4C9D-8608-002F78124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2F414-C5B5-82BC-F057-9D73E6F5FC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CC3C5-14F2-2596-B3BE-ED31F247A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DDABA-B919-5B4A-5E46-FA08D5B00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3EB7-E4D4-4F2B-BA48-1BF5AFD9F61D}" type="datetimeFigureOut">
              <a:rPr lang="en-US" smtClean="0"/>
              <a:t>26-Feb-23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3EB5EA-6692-C93D-A265-E44F9F36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78D5A-69AC-54AB-C9CC-4C4951533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2951-63DE-4CF1-84EA-BA2AFE63E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10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997AA-4706-7C60-A17D-4091E66C2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535C70-300A-9595-404F-6F2C77689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EA142-4079-DA4A-A522-32ED73A8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3EB7-E4D4-4F2B-BA48-1BF5AFD9F61D}" type="datetimeFigureOut">
              <a:rPr lang="en-US" smtClean="0"/>
              <a:t>26-Feb-23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88FB6-89FF-5244-435F-CA6E62CAD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96900-F54F-9BF6-1DAB-DF962E64D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2951-63DE-4CF1-84EA-BA2AFE63E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375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07981E-0B58-F9AD-C1F9-9F4E2444FA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3C39E1-A730-AE8B-6217-090F29670D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E1371-BFE0-6BD0-57F2-2413D552F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E3EB7-E4D4-4F2B-BA48-1BF5AFD9F61D}" type="datetimeFigureOut">
              <a:rPr lang="en-US" smtClean="0"/>
              <a:t>26-Feb-23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83F68A-BF10-9969-74AD-FA5F50F2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4BAA3-8DAA-64A2-1FA5-E6D7A5BE9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2951-63DE-4CF1-84EA-BA2AFE63E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23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19F081-819D-821A-6C28-6D95E20F8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25B985-9426-20A3-FB4C-649294496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0F163-627B-1C81-A6F5-F3EDE5D1F5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CE3EB7-E4D4-4F2B-BA48-1BF5AFD9F61D}" type="datetimeFigureOut">
              <a:rPr lang="en-US" smtClean="0"/>
              <a:t>26-Feb-23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8B545-431D-D82B-5A1A-967C6AE2DD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D59EC-A386-6A38-F54F-84A98B658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92951-63DE-4CF1-84EA-BA2AFE63EA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1/relationships/webextension" Target="../webextensions/webextension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1/relationships/webextension" Target="../webextensions/webextension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1/relationships/webextension" Target="../webextensions/webextension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2D2D65-D2AD-D915-21BA-3F0E04C4D605}"/>
              </a:ext>
            </a:extLst>
          </p:cNvPr>
          <p:cNvSpPr/>
          <p:nvPr/>
        </p:nvSpPr>
        <p:spPr>
          <a:xfrm>
            <a:off x="0" y="0"/>
            <a:ext cx="123517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DDA9A7-D0E6-EFC7-9830-A6B21D96DE9B}"/>
              </a:ext>
            </a:extLst>
          </p:cNvPr>
          <p:cNvSpPr txBox="1"/>
          <p:nvPr/>
        </p:nvSpPr>
        <p:spPr>
          <a:xfrm>
            <a:off x="1899081" y="239697"/>
            <a:ext cx="839383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>
                <a:latin typeface="Georgia" panose="02040502050405020303" pitchFamily="18" charset="0"/>
              </a:rPr>
              <a:t>CONSUMER COMPLAINTS</a:t>
            </a:r>
          </a:p>
          <a:p>
            <a:pPr algn="ctr"/>
            <a:r>
              <a:rPr lang="en-US" sz="7000" b="1" dirty="0">
                <a:latin typeface="Georgia" panose="02040502050405020303" pitchFamily="18" charset="0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46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7A050B-AF25-347C-F038-CB96AC0D7C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26429-C48E-ACE7-D146-E170AD89A1EF}"/>
              </a:ext>
            </a:extLst>
          </p:cNvPr>
          <p:cNvSpPr txBox="1"/>
          <p:nvPr/>
        </p:nvSpPr>
        <p:spPr>
          <a:xfrm>
            <a:off x="3139736" y="497149"/>
            <a:ext cx="59125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>
                <a:latin typeface="Georgia" panose="02040502050405020303" pitchFamily="18" charset="0"/>
              </a:rPr>
              <a:t>OBJECTIVE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1CF9D5-2448-CC56-4F24-CD58D1B926F2}"/>
              </a:ext>
            </a:extLst>
          </p:cNvPr>
          <p:cNvSpPr/>
          <p:nvPr/>
        </p:nvSpPr>
        <p:spPr>
          <a:xfrm>
            <a:off x="1791162" y="2278149"/>
            <a:ext cx="9055224" cy="1997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Georgia" panose="02040502050405020303" pitchFamily="18" charset="0"/>
              </a:rPr>
              <a:t>To gain useful insights that can help to mitigate complaints and eventually increase revenue by improving customer satisfaction </a:t>
            </a:r>
          </a:p>
        </p:txBody>
      </p:sp>
    </p:spTree>
    <p:extLst>
      <p:ext uri="{BB962C8B-B14F-4D97-AF65-F5344CB8AC3E}">
        <p14:creationId xmlns:p14="http://schemas.microsoft.com/office/powerpoint/2010/main" val="4142932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36A1A870-65F5-F08B-1DCD-9C7BCFB11E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925567"/>
                  </p:ext>
                </p:extLst>
              </p:nvPr>
            </p:nvGraphicFramePr>
            <p:xfrm>
              <a:off x="146304" y="0"/>
              <a:ext cx="11045952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36A1A870-65F5-F08B-1DCD-9C7BCFB11E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304" y="0"/>
                <a:ext cx="11045952" cy="685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B9ED8C3-C126-AE76-FD2E-6C526B725706}"/>
              </a:ext>
            </a:extLst>
          </p:cNvPr>
          <p:cNvSpPr txBox="1"/>
          <p:nvPr/>
        </p:nvSpPr>
        <p:spPr>
          <a:xfrm>
            <a:off x="8201686" y="1184596"/>
            <a:ext cx="299057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There are 8 companies with over 20k complaints</a:t>
            </a:r>
          </a:p>
          <a:p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All the companies with significant frequency of issues are financial institutions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4200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20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20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5957DB69-D683-1334-0006-9BB05DEB94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252857"/>
                  </p:ext>
                </p:extLst>
              </p:nvPr>
            </p:nvGraphicFramePr>
            <p:xfrm>
              <a:off x="0" y="100584"/>
              <a:ext cx="12192000" cy="6757416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Add-in 3" title="Microsoft Power BI">
                <a:extLst>
                  <a:ext uri="{FF2B5EF4-FFF2-40B4-BE49-F238E27FC236}">
                    <a16:creationId xmlns:a16="http://schemas.microsoft.com/office/drawing/2014/main" id="{5957DB69-D683-1334-0006-9BB05DEB94F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100584"/>
                <a:ext cx="12192000" cy="6757416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F8B99DE-45A9-4D2E-50E0-62EBE07051DC}"/>
              </a:ext>
            </a:extLst>
          </p:cNvPr>
          <p:cNvSpPr txBox="1"/>
          <p:nvPr/>
        </p:nvSpPr>
        <p:spPr>
          <a:xfrm>
            <a:off x="7789547" y="1771150"/>
            <a:ext cx="37623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All the services are financial </a:t>
            </a:r>
          </a:p>
          <a:p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There are 12 Products under observation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06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7A050B-AF25-347C-F038-CB96AC0D7CF2}"/>
              </a:ext>
            </a:extLst>
          </p:cNvPr>
          <p:cNvSpPr/>
          <p:nvPr/>
        </p:nvSpPr>
        <p:spPr>
          <a:xfrm>
            <a:off x="0" y="0"/>
            <a:ext cx="123517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293B4D8F-639D-AAE6-20DC-8EDB09646D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4013750"/>
                  </p:ext>
                </p:extLst>
              </p:nvPr>
            </p:nvGraphicFramePr>
            <p:xfrm>
              <a:off x="0" y="0"/>
              <a:ext cx="12351798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293B4D8F-639D-AAE6-20DC-8EDB09646D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351798" cy="685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9A18475-ACBF-DECD-2AE6-6748E65A9601}"/>
              </a:ext>
            </a:extLst>
          </p:cNvPr>
          <p:cNvSpPr txBox="1"/>
          <p:nvPr/>
        </p:nvSpPr>
        <p:spPr>
          <a:xfrm>
            <a:off x="7117241" y="1613118"/>
            <a:ext cx="37623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There are 97 distinct Issues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Only 6 issues are reported over 20k times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Loans and Debt make up a high frequency of the issues</a:t>
            </a:r>
          </a:p>
        </p:txBody>
      </p:sp>
    </p:spTree>
    <p:extLst>
      <p:ext uri="{BB962C8B-B14F-4D97-AF65-F5344CB8AC3E}">
        <p14:creationId xmlns:p14="http://schemas.microsoft.com/office/powerpoint/2010/main" val="1672317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7A050B-AF25-347C-F038-CB96AC0D7CF2}"/>
              </a:ext>
            </a:extLst>
          </p:cNvPr>
          <p:cNvSpPr/>
          <p:nvPr/>
        </p:nvSpPr>
        <p:spPr>
          <a:xfrm>
            <a:off x="0" y="0"/>
            <a:ext cx="123517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307D7-165F-5D08-9463-BD819DA396B8}"/>
              </a:ext>
            </a:extLst>
          </p:cNvPr>
          <p:cNvSpPr txBox="1"/>
          <p:nvPr/>
        </p:nvSpPr>
        <p:spPr>
          <a:xfrm>
            <a:off x="8347601" y="2105561"/>
            <a:ext cx="3762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D407AF24-C804-16C6-A6B1-BBA872DBBB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6213283"/>
                  </p:ext>
                </p:extLst>
              </p:nvPr>
            </p:nvGraphicFramePr>
            <p:xfrm>
              <a:off x="0" y="0"/>
              <a:ext cx="12351798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D407AF24-C804-16C6-A6B1-BBA872DBBB7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351798" cy="685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051F4BB-3719-8A28-EDF6-E021B1D2C61D}"/>
              </a:ext>
            </a:extLst>
          </p:cNvPr>
          <p:cNvSpPr txBox="1"/>
          <p:nvPr/>
        </p:nvSpPr>
        <p:spPr>
          <a:xfrm>
            <a:off x="5427863" y="1293745"/>
            <a:ext cx="608203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Over 60 percent of the complaints are made by internet using customers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Post and Fax were significantly used more than email.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This could mean there’s a good number of older generation folk among the complaints</a:t>
            </a:r>
          </a:p>
        </p:txBody>
      </p:sp>
    </p:spTree>
    <p:extLst>
      <p:ext uri="{BB962C8B-B14F-4D97-AF65-F5344CB8AC3E}">
        <p14:creationId xmlns:p14="http://schemas.microsoft.com/office/powerpoint/2010/main" val="180711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1150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7A050B-AF25-347C-F038-CB96AC0D7CF2}"/>
              </a:ext>
            </a:extLst>
          </p:cNvPr>
          <p:cNvSpPr/>
          <p:nvPr/>
        </p:nvSpPr>
        <p:spPr>
          <a:xfrm>
            <a:off x="0" y="0"/>
            <a:ext cx="123517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39B5933E-E21A-AEDF-DE98-2D56004A5F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51965095"/>
                  </p:ext>
                </p:extLst>
              </p:nvPr>
            </p:nvGraphicFramePr>
            <p:xfrm>
              <a:off x="-1" y="0"/>
              <a:ext cx="12351797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39B5933E-E21A-AEDF-DE98-2D56004A5FD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" y="0"/>
                <a:ext cx="12351797" cy="6858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E6586FB-C8F5-A780-202E-AC4C11867907}"/>
              </a:ext>
            </a:extLst>
          </p:cNvPr>
          <p:cNvSpPr txBox="1"/>
          <p:nvPr/>
        </p:nvSpPr>
        <p:spPr>
          <a:xfrm>
            <a:off x="8092275" y="1478943"/>
            <a:ext cx="376237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75 percent of the complaints were closed by explanations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Most of the issues stemmed from inadequate information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Only a very small percentage of issues have not been settled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623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7A050B-AF25-347C-F038-CB96AC0D7CF2}"/>
              </a:ext>
            </a:extLst>
          </p:cNvPr>
          <p:cNvSpPr/>
          <p:nvPr/>
        </p:nvSpPr>
        <p:spPr>
          <a:xfrm>
            <a:off x="0" y="0"/>
            <a:ext cx="123517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D4361357-CCAA-18BF-5943-A223A79A1B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4302677"/>
                  </p:ext>
                </p:extLst>
              </p:nvPr>
            </p:nvGraphicFramePr>
            <p:xfrm>
              <a:off x="-1" y="0"/>
              <a:ext cx="12351797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D4361357-CCAA-18BF-5943-A223A79A1B7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" y="0"/>
                <a:ext cx="12351797" cy="685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C808C1B-B866-19C7-1F98-CDF739514969}"/>
              </a:ext>
            </a:extLst>
          </p:cNvPr>
          <p:cNvSpPr txBox="1"/>
          <p:nvPr/>
        </p:nvSpPr>
        <p:spPr>
          <a:xfrm>
            <a:off x="8106446" y="1637261"/>
            <a:ext cx="37623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The companies response rate is consistent with the rate of submission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The companies pay adequate attention to all kinds of issues regardless of mode of submission</a:t>
            </a:r>
          </a:p>
          <a:p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426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7" name="Add-in 6" title="Microsoft Power BI">
                <a:extLst>
                  <a:ext uri="{FF2B5EF4-FFF2-40B4-BE49-F238E27FC236}">
                    <a16:creationId xmlns:a16="http://schemas.microsoft.com/office/drawing/2014/main" id="{5C268D00-224A-2883-5EF0-C5170F2F96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0576589"/>
                  </p:ext>
                </p:extLst>
              </p:nvPr>
            </p:nvGraphicFramePr>
            <p:xfrm>
              <a:off x="0" y="-70510"/>
              <a:ext cx="12191999" cy="692851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7" name="Add-in 6" title="Microsoft Power BI">
                <a:extLst>
                  <a:ext uri="{FF2B5EF4-FFF2-40B4-BE49-F238E27FC236}">
                    <a16:creationId xmlns:a16="http://schemas.microsoft.com/office/drawing/2014/main" id="{5C268D00-224A-2883-5EF0-C5170F2F96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-70510"/>
                <a:ext cx="12191999" cy="692851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DFF19BD-C1DE-F985-BA14-B86CE095510C}"/>
              </a:ext>
            </a:extLst>
          </p:cNvPr>
          <p:cNvSpPr txBox="1"/>
          <p:nvPr/>
        </p:nvSpPr>
        <p:spPr>
          <a:xfrm>
            <a:off x="3228513" y="1211364"/>
            <a:ext cx="32758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Most complaints were settled without customers disputing</a:t>
            </a:r>
          </a:p>
          <a:p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Companies have a 97 percent rate of timely response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There is some correlation between timely response and consumers disputing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16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7A050B-AF25-347C-F038-CB96AC0D7CF2}"/>
              </a:ext>
            </a:extLst>
          </p:cNvPr>
          <p:cNvSpPr/>
          <p:nvPr/>
        </p:nvSpPr>
        <p:spPr>
          <a:xfrm>
            <a:off x="0" y="0"/>
            <a:ext cx="123517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E59D74B7-1C31-FB06-585B-35DF0CE446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8840359"/>
                  </p:ext>
                </p:extLst>
              </p:nvPr>
            </p:nvGraphicFramePr>
            <p:xfrm>
              <a:off x="292963" y="257452"/>
              <a:ext cx="11647503" cy="638304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E59D74B7-1C31-FB06-585B-35DF0CE4463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963" y="257452"/>
                <a:ext cx="11647503" cy="6383045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2B4E2C2-CF02-BB52-3680-2D72FF2885D4}"/>
              </a:ext>
            </a:extLst>
          </p:cNvPr>
          <p:cNvSpPr txBox="1"/>
          <p:nvPr/>
        </p:nvSpPr>
        <p:spPr>
          <a:xfrm>
            <a:off x="7054790" y="2902849"/>
            <a:ext cx="328769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The peak year for issues is 2014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Issues maintain a somewhat steady level from 2015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641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1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7A050B-AF25-347C-F038-CB96AC0D7CF2}"/>
              </a:ext>
            </a:extLst>
          </p:cNvPr>
          <p:cNvSpPr/>
          <p:nvPr/>
        </p:nvSpPr>
        <p:spPr>
          <a:xfrm>
            <a:off x="0" y="0"/>
            <a:ext cx="12351798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EA836-EA7F-5D52-9808-C2B36302F8FA}"/>
              </a:ext>
            </a:extLst>
          </p:cNvPr>
          <p:cNvSpPr txBox="1"/>
          <p:nvPr/>
        </p:nvSpPr>
        <p:spPr>
          <a:xfrm>
            <a:off x="0" y="949762"/>
            <a:ext cx="39328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Product type plays no significant role in why frequency of issues is stagnant after 2015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Issues are the same over time for every mode of submission except via web</a:t>
            </a:r>
            <a:endParaRPr lang="en-US" sz="1600" b="1" dirty="0">
              <a:solidFill>
                <a:srgbClr val="3C6CF4"/>
              </a:solidFill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0F997217-4C28-0E19-560B-E413C23117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50485006"/>
                  </p:ext>
                </p:extLst>
              </p:nvPr>
            </p:nvGraphicFramePr>
            <p:xfrm>
              <a:off x="4332302" y="0"/>
              <a:ext cx="8019495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3" name="Add-in 2" title="Microsoft Power BI">
                <a:extLst>
                  <a:ext uri="{FF2B5EF4-FFF2-40B4-BE49-F238E27FC236}">
                    <a16:creationId xmlns:a16="http://schemas.microsoft.com/office/drawing/2014/main" id="{0F997217-4C28-0E19-560B-E413C23117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32302" y="0"/>
                <a:ext cx="8019495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3237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7A050B-AF25-347C-F038-CB96AC0D7C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26429-C48E-ACE7-D146-E170AD89A1EF}"/>
              </a:ext>
            </a:extLst>
          </p:cNvPr>
          <p:cNvSpPr txBox="1"/>
          <p:nvPr/>
        </p:nvSpPr>
        <p:spPr>
          <a:xfrm>
            <a:off x="2536055" y="284084"/>
            <a:ext cx="735681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>
                <a:latin typeface="Georgia" panose="02040502050405020303" pitchFamily="18" charset="0"/>
              </a:rPr>
              <a:t>CONCLUSIONS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19A809-01DC-DE86-12C6-F715B7C10376}"/>
              </a:ext>
            </a:extLst>
          </p:cNvPr>
          <p:cNvSpPr txBox="1"/>
          <p:nvPr/>
        </p:nvSpPr>
        <p:spPr>
          <a:xfrm>
            <a:off x="244044" y="2526808"/>
            <a:ext cx="3795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Issues submitted via web should be given highest probability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BD729E-718A-17BB-FD2F-EF3F1FA20A7C}"/>
              </a:ext>
            </a:extLst>
          </p:cNvPr>
          <p:cNvSpPr txBox="1"/>
          <p:nvPr/>
        </p:nvSpPr>
        <p:spPr>
          <a:xfrm>
            <a:off x="6514543" y="4446182"/>
            <a:ext cx="37953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More recent data should be collected to understand latest trends in issues and how they can be tackled.</a:t>
            </a:r>
          </a:p>
          <a:p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6387BE-B3FA-5887-FD40-53ADAE220633}"/>
              </a:ext>
            </a:extLst>
          </p:cNvPr>
          <p:cNvSpPr txBox="1"/>
          <p:nvPr/>
        </p:nvSpPr>
        <p:spPr>
          <a:xfrm>
            <a:off x="4039434" y="2526808"/>
            <a:ext cx="37953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There will be significant reduction in issues if there is timely response at all times 	</a:t>
            </a:r>
          </a:p>
          <a:p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7122FC-F549-9510-313C-57CDA62324B0}"/>
              </a:ext>
            </a:extLst>
          </p:cNvPr>
          <p:cNvSpPr txBox="1"/>
          <p:nvPr/>
        </p:nvSpPr>
        <p:spPr>
          <a:xfrm>
            <a:off x="7897520" y="2530605"/>
            <a:ext cx="37953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Banking institutions registered the most issues with Mortgage, Credit reporting, and debt collection having the largest impact. </a:t>
            </a:r>
          </a:p>
          <a:p>
            <a:endParaRPr lang="en-US" sz="1600" b="1" dirty="0">
              <a:solidFill>
                <a:srgbClr val="118DFF"/>
              </a:solidFill>
              <a:latin typeface="Georgia" panose="020405020504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06DA8F2-D901-6A2F-3B88-41ECD0C8F041}"/>
              </a:ext>
            </a:extLst>
          </p:cNvPr>
          <p:cNvSpPr txBox="1"/>
          <p:nvPr/>
        </p:nvSpPr>
        <p:spPr>
          <a:xfrm>
            <a:off x="1624426" y="4446183"/>
            <a:ext cx="3795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18DFF"/>
                </a:solidFill>
                <a:latin typeface="Georgia" panose="02040502050405020303" pitchFamily="18" charset="0"/>
              </a:rPr>
              <a:t>Issues stopped increasing after 2014 and remained at a level frequency</a:t>
            </a:r>
          </a:p>
        </p:txBody>
      </p:sp>
    </p:spTree>
    <p:extLst>
      <p:ext uri="{BB962C8B-B14F-4D97-AF65-F5344CB8AC3E}">
        <p14:creationId xmlns:p14="http://schemas.microsoft.com/office/powerpoint/2010/main" val="3977378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7A050B-AF25-347C-F038-CB96AC0D7CF2}"/>
              </a:ext>
            </a:extLst>
          </p:cNvPr>
          <p:cNvSpPr/>
          <p:nvPr/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26429-C48E-ACE7-D146-E170AD89A1EF}"/>
              </a:ext>
            </a:extLst>
          </p:cNvPr>
          <p:cNvSpPr txBox="1"/>
          <p:nvPr/>
        </p:nvSpPr>
        <p:spPr>
          <a:xfrm>
            <a:off x="3215936" y="1992574"/>
            <a:ext cx="525178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0" b="1" dirty="0">
                <a:latin typeface="Georgia" panose="020405020504050203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9290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webextensions/_rels/webextension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webextensions/_rels/webextension5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_rels/webextension6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webextensions/_rels/webextension7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webextensions/_rels/webextension8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webextensions/_rels/webextension9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webextensions/webextension1.xml><?xml version="1.0" encoding="utf-8"?>
<we:webextension xmlns:we="http://schemas.microsoft.com/office/webextensions/webextension/2010/11" id="{98B6141C-EA67-432E-87A7-1A7AC25DCEB5}">
  <we:reference id="wa200003233" version="2.0.0.3" store="en-US" storeType="OMEX"/>
  <we:alternateReferences>
    <we:reference id="wa200003233" version="2.0.0.3" store="wa200003233" storeType="OMEX"/>
  </we:alternateReferences>
  <we:properties>
    <we:property name="creatorTenantId" value="&quot;94c611e1-0207-4c90-a201-cd8fd3e1e49e&quot;"/>
    <we:property name="reportUrl" value="&quot;/groups/me/reports/3132799d-d56f-47b7-ba3e-27bf9622e23d/ReportSection4b380c63c2bb2dbc0561?ctid=94c611e1-0207-4c90-a201-cd8fd3e1e49e&quot;"/>
    <we:property name="reportName" value="&quot;Consumer Complaints for PPT&quot;"/>
    <we:property name="reportState" value="&quot;CONNECTED&quot;"/>
    <we:property name="embedUrl" value="&quot;/reportEmbed?reportId=3132799d-d56f-47b7-ba3e-27bf9622e23d&amp;config=eyJjbHVzdGVyVXJsIjoiaHR0cHM6Ly9XQUJJLVNPVVRILUFGUklDQS1OT1JUSC1BLVBSSU1BUlktcmVkaXJlY3QuYW5hbHlzaXMud2luZG93cy5uZXQiLCJlbWJlZEZlYXR1cmVzIjp7Im1vZGVybkVtYmVkIjp0cnVlLCJ1c2FnZU1ldHJpY3NWTmV4dCI6dHJ1ZX19&amp;disableSensitivityBanner=true&quot;"/>
    <we:property name="pageName" value="&quot;ReportSection4b380c63c2bb2dbc0561&quot;"/>
    <we:property name="pageDisplayName" value="&quot;Page 2&quot;"/>
    <we:property name="datasetId" value="&quot;c410b94c-3969-4a28-89e5-016251bec109&quot;"/>
    <we:property name="backgroundColor" value="&quot;#FFFFFF&quot;"/>
    <we:property name="bookmark" value="&quot;H4sIAAAAAAAAA91UwW7bMAz9lUFnY1CdOE5ya73uNAxBM/QyFAMtMa5aWTIkOasX5N9HyS7WFAU67FBs88UW+STyvUfrwKTynYbhM7TI1uzC2vsW3P27M5YxcxpbyXkxFzNRljO+4MB5UQpC2S4oazxbH1gA12C4Vr4HHQ+k4FdWLld5Xua7gueC85IvlivBbjIGWm+giZgdaI8Z69B5a0CrHzgeQangejxmDB86bR3EQtsAAWOxPcFpTQ2evZ9RHyCC2uMWRRijV9hZF6b1vJ4tuVjMRF7XuawFLxaRoR+zqfnX8bFoaqyyJoAy1ECMlQWvcQeLshRYSpBlvUrYndJhgtTD5UPnSA3SaOiiqOdyD0agZImcQz9yObDzpnHYQJiWlyfJyuq+fSG+tb0TeIW7lDJBhYFqVBrBoPxG7fq+RUcfLXmtTPDsSKpunCXNRyhlwAwp/LE3k4Z5XN7a75VDEl2yNT/eUMQr0+jJo1+ifBmJCXCRlK3vSMlInjZYJ9FdDIn/B+UeLcqzZzT+Mu5ElkIvzu9r9lakV2OdEqTQc4ffhMipa9m/NXfFH8xdDa66BRf+h9kr4uw93miEvntyTU2TNRJ6g77oH4jPU1UZ7W3SHWz74DsQuKFzU0PdeITChKMJAyOjgenbxfcnRX/N6N816D5al+5/loqQparW+LsbpvZ+AuDIzDLGBgAA&quot;"/>
    <we:property name="initialStateBookmark" value="&quot;H4sIAAAAAAAAA91UTW/bMAz9K4POxuA6S5zklnrZpWsbJEMvQ1HQMuOqVSSDkrN6Qf77KNnF2mJAhx2Kbb7Y/BDJ9x6tg6iUazR0F7BDMRen1t7vgO7fnYhEmMF3eXl2vlif3Vwszpfsto1X1jgxPwgPVKO/Uq4FHSqw8+t1IkDrFdTB2oJ2mIgGyVkDWn3HPplDnlo8JgIfGm0JQsmNB4+h7J7T2ebeJ+9H3BGkV3vcoPS9d42NJT/YH8rRNJWTkczKMqtKmY4nYXjXR+OYr+eHpnGwwhoPyvAAwZeP0xK3MMlziXkFVV7OYu5WaT+klN3yoSHGzWx0TeBrUe3BSKxEBEfoeiwHsahrwhr8YC6fBQur290v/BvbksQ1bmPIeOU77lFoBIPVDY/r2h0Sf+xYRmW8E0dmdUWWOe9TOQKmi+5PrRk4zIJ5a78VhEx6Jebp8Zo9TplaDxr9JOVLD0wCBVC2vGMmA3g+YKlCOu0i/o+KHiXKkhcw/jLsDJZd+XSWZXm2HaeZTNM8nUxn8lV5C+artqQkM/RS4TcB8ly15N/au/Ef7F0JVNwC+f9h98Zh9x5vNM6+e3JNDZvVA3qDufgfCM9TVgWfreMdbFvvGpC44rpxoKYvoTDm8YaBqYKA8ZvC+7Piv6bX7wp0G6SL97+ITVhSVWr83QPDeD8AiJCTf6EGAAA=&quot;"/>
    <we:property name="isFooterCollapsed" value="false"/>
    <we:property name="isFiltersActionButtonVisible" value="false"/>
    <we:property name="reportEmbeddedTime" value="&quot;2023-02-26T11:32:50.616Z&quot;"/>
    <we:property name="creatorUserId" value="&quot;1003200231FE1A01&quot;"/>
    <we:property name="creatorSessionId" value="&quot;d3eb59a7-f014-4aeb-99de-4bfe21da1e3a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25893968-6A5A-4FBF-B3C4-F8231C85C2D2}">
  <we:reference id="wa200003233" version="2.0.0.3" store="en-US" storeType="OMEX"/>
  <we:alternateReferences>
    <we:reference id="wa200003233" version="2.0.0.3" store="wa200003233" storeType="OMEX"/>
  </we:alternateReferences>
  <we:properties>
    <we:property name="creatorTenantId" value="&quot;94c611e1-0207-4c90-a201-cd8fd3e1e49e&quot;"/>
    <we:property name="reportUrl" value="&quot;/groups/me/reports/3132799d-d56f-47b7-ba3e-27bf9622e23d/ReportSection4046e94f2514481c2c0b?ctid=94c611e1-0207-4c90-a201-cd8fd3e1e49e&quot;"/>
    <we:property name="reportName" value="&quot;Consumer Complaints for PPT&quot;"/>
    <we:property name="reportState" value="&quot;CONNECTED&quot;"/>
    <we:property name="embedUrl" value="&quot;/reportEmbed?reportId=3132799d-d56f-47b7-ba3e-27bf9622e23d&amp;config=eyJjbHVzdGVyVXJsIjoiaHR0cHM6Ly9XQUJJLVNPVVRILUFGUklDQS1OT1JUSC1BLVBSSU1BUlktcmVkaXJlY3QuYW5hbHlzaXMud2luZG93cy5uZXQiLCJlbWJlZEZlYXR1cmVzIjp7Im1vZGVybkVtYmVkIjp0cnVlLCJ1c2FnZU1ldHJpY3NWTmV4dCI6dHJ1ZX19&amp;disableSensitivityBanner=true&quot;"/>
    <we:property name="pageName" value="&quot;ReportSection4046e94f2514481c2c0b&quot;"/>
    <we:property name="pageDisplayName" value="&quot;Page 1&quot;"/>
    <we:property name="datasetId" value="&quot;c410b94c-3969-4a28-89e5-016251bec109&quot;"/>
    <we:property name="backgroundColor" value="&quot;#FFFFFF&quot;"/>
    <we:property name="bookmark" value="&quot;H4sIAAAAAAAAA91UTW/bMAz9K4POxhB/ZE5zS73s0rUNkqGXoShoiXHVypIhyVmzIP99lOxibTGgww7FtlwiPlEU33u0DkxI1ynYX0CLbM5Ojblvwd6/S1nC9IhdXp6dL9ZnNxeL8yXBpvPSaMfmB+bBNuivpOtBhQoEfr1OGCi1giZEW1AOE9ahdUaDkt9xSKYtb3s8JgwfOmUshJIbDx5D2R2lU0x3p+9zuhG4lzvcIPcDusbOWD/GxaT4gCfFNpumRTFLecYnNZ1xw25s8/X8cGlsrDLag9TUQMDKsijzQpS5SMtsBrmASRrwrVR+TKn3y4fOEm9SY98FvRZiB5qjYJGcRTdwObBF01hswI/h8tlmZVTf/gLfmN5yXOM2bmkv/Z7uqBSCRnFD7bq+RUuLlmyU2jt2JFVX1pDmMZWWouc+wp96PWqYhfDWfKsskuiCzSfHa0Kc1I0aPfopypeBGAcbSJn6jpQM5OmAsQLt6T7y/yjto0VZ8oLGX8adyBI0m2Y4EXCSpyXmdck5lOWr9lakV2Os5KTQS4ffhMhz15J/a+6mfzB3NdjqFqz/H2ZvGmbv8UWjlLsnz9Q4WQOhN+iLvoHwe6oqo7NNfINN710HHFdUNzbUDSUkxjyaMNAiGBjXNvx/lvTVDP5dgeqDdfH9Z/ESslTWCn/3wNjeD3asO1KhBgAA&quot;"/>
    <we:property name="initialStateBookmark" value="&quot;H4sIAAAAAAAAA91UTW/bMAz9K4POxhB/ZE5zS73s0rUNkqGXoShoiXHVypIhyVmzIP99lOxibTGgww7FtlwiPlEU33u0DkxI1ynYX0CLbM5Ojblvwd6/S1nC9IhdXp6dL9ZnNxeL8yXBpvPSaMfmB+bBNuivpOtBhQoEfr1OGCi1giZEW1AOE9ahdUaDkt9xSKYtb3s8JgwfOmUshJIbDx5D2R2lU0x3p+9zuhG4lzvcIPcDusbOWD/GxaT4gCfFNpumRTFLecYnNZ1xw25s8/X8cGlsrDLag9TUQMDKsijzQpS5SMtsBrmASRrwrVR+TKn3y4fOEm9SY98FvRZiB5qjYJGcRTdwObBF01hswI/h8tlmZVTf/gLfmN5yXOM2bmkv/Z7uqBSCRnFD7bq+RUuLlmyU2jt2JFVX1pDmMZWWouc+wp96PWqYhfDWfKsskuiCzSfHa0Kc1I0aPfopypeBGAcbSJn6jpQM5OmAsQLt6T7y/yjto0VZ8oLGX8adyBI0m2Y4EXCSpyXmdck5lOWr9lakV2Os5KTQS4ffhMhz15J/a+6mfzB3NdjqFqz/H2ZvGmbv8UWjlLsnz9Q4WQOhN+iLvoHwe6oqo7NNfINN710HHFdUNzbUDSUkxjyaMNAiGBjXNvx/lvTVDP5dgeqDdfH9Z/ESslTWCn/3wNjeD3asO1KhBgAA&quot;"/>
    <we:property name="isFooterCollapsed" value="true"/>
    <we:property name="isFiltersActionButtonVisible" value="false"/>
    <we:property name="reportEmbeddedTime" value="&quot;2023-02-26T11:30:06.056Z&quot;"/>
    <we:property name="creatorUserId" value="&quot;1003200231FE1A01&quot;"/>
    <we:property name="creatorSessionId" value="&quot;8e87c07c-a61b-42ac-a1b7-9709a062a5dc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44EFEBCA-6F31-46AF-B28F-2B567E69C065}">
  <we:reference id="wa200003233" version="2.0.0.3" store="en-US" storeType="OMEX"/>
  <we:alternateReferences>
    <we:reference id="wa200003233" version="2.0.0.3" store="wa200003233" storeType="OMEX"/>
  </we:alternateReferences>
  <we:properties>
    <we:property name="creatorTenantId" value="&quot;94c611e1-0207-4c90-a201-cd8fd3e1e49e&quot;"/>
    <we:property name="reportUrl" value="&quot;/groups/me/reports/3132799d-d56f-47b7-ba3e-27bf9622e23d/ReportSectionf84fd9eb729165d4572a?ctid=94c611e1-0207-4c90-a201-cd8fd3e1e49e&quot;"/>
    <we:property name="reportName" value="&quot;Consumer Complaints for PPT&quot;"/>
    <we:property name="reportState" value="&quot;CONNECTED&quot;"/>
    <we:property name="embedUrl" value="&quot;/reportEmbed?reportId=3132799d-d56f-47b7-ba3e-27bf9622e23d&amp;config=eyJjbHVzdGVyVXJsIjoiaHR0cHM6Ly9XQUJJLVNPVVRILUFGUklDQS1OT1JUSC1BLVBSSU1BUlktcmVkaXJlY3QuYW5hbHlzaXMud2luZG93cy5uZXQiLCJlbWJlZEZlYXR1cmVzIjp7Im1vZGVybkVtYmVkIjp0cnVlLCJ1c2FnZU1ldHJpY3NWTmV4dCI6dHJ1ZX19&amp;disableSensitivityBanner=true&quot;"/>
    <we:property name="pageName" value="&quot;ReportSectionf84fd9eb729165d4572a&quot;"/>
    <we:property name="pageDisplayName" value="&quot;Page 3&quot;"/>
    <we:property name="datasetId" value="&quot;c410b94c-3969-4a28-89e5-016251bec109&quot;"/>
    <we:property name="backgroundColor" value="&quot;#FFFFFF&quot;"/>
    <we:property name="bookmark" value="&quot;H4sIAAAAAAAAA9VU72vbMBD9V4Y+m5G4cX59S70MRtc2JKNfRiln6+yqVSRzkrNmIf/7TrLL2jLoGGys/mLr6XR3772zDkIq12jYX8AWxVycWnu/Bbp/NxSJMD12eXl2vlif3VwszpcM28Yra5yYH4QHqtFfKdeCDhkY/HqdCNB6BXVYVaAdJqJBctaAVt+xC+YtTy0eE4EPjbYEIeXGg8eQdsfhvObaw/cnXBFKr3a4wdJ36BobS75fV9NRJWdYTNLZcJzJUTZJgc+4bje2+Xp8KBoby63xoAw3ELDJuCogkyiHKKdpgZNikAW8Utr3IcV++dAQ82Y19k3QayF3YEqUIpIjdB2Xg1jUNWENvl8un23mVrfbX+Ab21KJa6zilvHK77lGrhEMyhtu17VbJP7Yso3KeCeOrOqKLGseQz8512IEP7amVzANy1v7LSdkyaWYD47XjDhlat079FOSLx2tEihQssUd6xio8wFLEul0H9l/UPRoUJq8IPFfMWeqDJ1MYDQqptU4G8zSYiTlYDh71dqc1aotqZL1eenuP6Dx3LHkLU1c9gcTVwDlt0D+7U9dFqbu8R7j2Lsnl1M/Ux2dv94Vz354nioq+GQd713betdAiSvOGttpugQKYxzPFhgZzIvfFN6fFf8tnXdXoNtgW7zzRSzCdqpC4+8e6Nv7Af9JxcqVBgAA&quot;"/>
    <we:property name="initialStateBookmark" value="&quot;H4sIAAAAAAAAA9VU72vbMBD9V4Y+m5G4cX59S70MRtc2JKNfRiln6+yqVSRzkrNmIf/7TrLL2jLoGGys/mLr6XR3772zDkIq12jYX8AWxVycWnu/Bbp/NxSJMD12eXl2vlif3VwszpcM28Yra5yYH4QHqtFfKdeCDhkY/HqdCNB6BXVYVaAdJqJBctaAVt+xC+YtTy0eE4EPjbYEIeXGg8eQdsfhvObaw/cnXBFKr3a4wdJ36BobS75fV9NRJWdYTNLZcJzJUTZJgc+4bje2+Xp8KBoby63xoAw3ELDJuCogkyiHKKdpgZNikAW8Utr3IcV++dAQ82Y19k3QayF3YEqUIpIjdB2Xg1jUNWENvl8un23mVrfbX+Ab21KJa6zilvHK77lGrhEMyhtu17VbJP7Yso3KeCeOrOqKLGseQz8512IEP7amVzANy1v7LSdkyaWYD47XjDhlat079FOSLx2tEihQssUd6xio8wFLEul0H9l/UPRoUJq8IPFfMWeqDJ1MYDQqptU4G8zSYiTlYDh71dqc1aotqZL1eenuP6Dx3LHkLU1c9gcTVwDlt0D+7U9dFqbu8R7j2Lsnl1M/Ux2dv94Vz354nioq+GQd713betdAiSvOGttpugQKYxzPFhgZzIvfFN6fFf8tnXdXoNtgW7zzRSzCdqpC4+8e6Nv7Af9JxcqVBgAA&quot;"/>
    <we:property name="isFiltersActionButtonVisible" value="false"/>
    <we:property name="reportEmbeddedTime" value="&quot;2023-02-26T11:39:55.401Z&quot;"/>
    <we:property name="creatorUserId" value="&quot;1003200231FE1A01&quot;"/>
    <we:property name="creatorSessionId" value="&quot;ededf9b6-4d02-432e-aa2c-dda398dfa383&quot;"/>
  </we:properties>
  <we:bindings/>
  <we:snapshot xmlns:r="http://schemas.openxmlformats.org/officeDocument/2006/relationships" r:embed="rId1"/>
</we:webextension>
</file>

<file path=ppt/webextensions/webextension4.xml><?xml version="1.0" encoding="utf-8"?>
<we:webextension xmlns:we="http://schemas.microsoft.com/office/webextensions/webextension/2010/11" id="{34A0234B-5E76-4D02-9AA8-90E00EC9222E}">
  <we:reference id="wa200003233" version="2.0.0.3" store="en-US" storeType="OMEX"/>
  <we:alternateReferences>
    <we:reference id="wa200003233" version="2.0.0.3" store="wa200003233" storeType="OMEX"/>
  </we:alternateReferences>
  <we:properties>
    <we:property name="creatorTenantId" value="&quot;94c611e1-0207-4c90-a201-cd8fd3e1e49e&quot;"/>
    <we:property name="reportUrl" value="&quot;/groups/me/reports/3132799d-d56f-47b7-ba3e-27bf9622e23d/ReportSectionb27250ac95a8aeeac0a1?ctid=94c611e1-0207-4c90-a201-cd8fd3e1e49e&quot;"/>
    <we:property name="reportName" value="&quot;Consumer Complaints for PPT&quot;"/>
    <we:property name="reportState" value="&quot;CONNECTED&quot;"/>
    <we:property name="embedUrl" value="&quot;/reportEmbed?reportId=3132799d-d56f-47b7-ba3e-27bf9622e23d&amp;config=eyJjbHVzdGVyVXJsIjoiaHR0cHM6Ly9XQUJJLVNPVVRILUFGUklDQS1OT1JUSC1BLVBSSU1BUlktcmVkaXJlY3QuYW5hbHlzaXMud2luZG93cy5uZXQiLCJlbWJlZEZlYXR1cmVzIjp7Im1vZGVybkVtYmVkIjp0cnVlLCJ1c2FnZU1ldHJpY3NWTmV4dCI6dHJ1ZX19&amp;disableSensitivityBanner=true&quot;"/>
    <we:property name="pageName" value="&quot;ReportSectionb27250ac95a8aeeac0a1&quot;"/>
    <we:property name="pageDisplayName" value="&quot;Page 4&quot;"/>
    <we:property name="datasetId" value="&quot;c410b94c-3969-4a28-89e5-016251bec109&quot;"/>
    <we:property name="backgroundColor" value="&quot;#FFFFFF&quot;"/>
    <we:property name="bookmark" value="&quot;H4sIAAAAAAAAA81UwW7bMAz9lUFnY3AdOF1zS93s0rUNkqGXIShomXHVypIh0Vm9wP8+Sna3rjusp225RHykyEc+ykdRKd9q6K+hQbEQ59Y+NuAe352IRJgJu7m5vFpuLu+ul1crhm1LyhovFkdB4GqkW+U70CEDg192iQCt11AHaw/aYyJadN4a0OobjsHsItfhkAh8arV1EFJuCQhD2gOHs821T97PuCJIUgfcoqQR3WBrHU12mZ1meQryLIcPgAgyhUDej95I88/xoWgkVlhDoAwTCNg8k+lZjrN0Nocsy+RpNs8DvleappCyXz21jvvmafRtmFfBXdTWKQlaxP4c+rGdoyis7pp4Wv2Cb23nJG5wH12GFPUhk0YwWN0xKd816PjQsFjKkBcDz27tLE82hm67slFEHHxQEJ339mvhkLlUYpEOyQ96y+oARjL6mtuyrh3WQJO5+lfEP3ZmEjr/vY8dI16ZWk+L9FO5z2N7MhIt7sFR2NXygVUPQvE96yp0533U6kK553XKklc9/ZeDGHbP74DvPLxY7mndxrb+GrvdEH8vJyw4Qx3fr+3ItyBxzdkjrXZMpDDG8dqBqYKe8ezC/yfFD2qU8xZ0F5SM3w4Ri7DCqtT41gsTve/PtwJB3QQAAA==&quot;"/>
    <we:property name="initialStateBookmark" value="&quot;H4sIAAAAAAAAA81UwW7bMAz9lUFnY3AdOF1zS93s0rUNkqGXIShomXHVypIh0Vm9wP8+Sna3rjusp225RHykyEc+ykdRKd9q6K+hQbEQ59Y+NuAe352IRJgJu7m5vFpuLu+ul1crhm1LyhovFkdB4GqkW+U70CEDg192iQCt11AHaw/aYyJadN4a0OobjsHsItfhkAh8arV1EFJuCQhD2gOHs821T97PuCJIUgfcoqQR3WBrHU12mZ1meQryLIcPgAgyhUDej95I88/xoWgkVlhDoAwTCNg8k+lZjrN0Nocsy+RpNs8DvleappCyXz21jvvmafRtmFfBXdTWKQlaxP4c+rGdoyis7pp4Wv2Cb23nJG5wH12GFPUhk0YwWN0xKd816PjQsFjKkBcDz27tLE82hm67slFEHHxQEJ339mvhkLlUYpEOyQ96y+oARjL6mtuyrh3WQJO5+lfEP3ZmEjr/vY8dI16ZWk+L9FO5z2N7MhIt7sFR2NXygVUPQvE96yp0533U6kK553XKklc9/ZeDGHbP74DvPLxY7mndxrb+GrvdEH8vJyw4Qx3fr+3ItyBxzdkjrXZMpDDG8dqBqYKe8ezC/yfFD2qU8xZ0F5SM3w4Ri7DCqtT41gsTve/PtwJB3QQAAA==&quot;"/>
    <we:property name="isFooterCollapsed" value="true"/>
    <we:property name="isFiltersActionButtonVisible" value="false"/>
    <we:property name="reportEmbeddedTime" value="&quot;2023-02-26T11:42:44.929Z&quot;"/>
    <we:property name="creatorUserId" value="&quot;1003200231FE1A01&quot;"/>
    <we:property name="creatorSessionId" value="&quot;c29461e1-c301-4730-bc1e-aecfd7ee466d&quot;"/>
  </we:properties>
  <we:bindings/>
  <we:snapshot xmlns:r="http://schemas.openxmlformats.org/officeDocument/2006/relationships" r:embed="rId1"/>
</we:webextension>
</file>

<file path=ppt/webextensions/webextension5.xml><?xml version="1.0" encoding="utf-8"?>
<we:webextension xmlns:we="http://schemas.microsoft.com/office/webextensions/webextension/2010/11" id="{8826350F-1335-4108-8206-FF0C4A85FC70}">
  <we:reference id="wa200003233" version="2.0.0.3" store="en-US" storeType="OMEX"/>
  <we:alternateReferences>
    <we:reference id="wa200003233" version="2.0.0.3" store="wa200003233" storeType="OMEX"/>
  </we:alternateReferences>
  <we:properties>
    <we:property name="creatorTenantId" value="&quot;94c611e1-0207-4c90-a201-cd8fd3e1e49e&quot;"/>
    <we:property name="reportUrl" value="&quot;/groups/me/reports/3132799d-d56f-47b7-ba3e-27bf9622e23d/ReportSectionf52403a7d4b996115742?ctid=94c611e1-0207-4c90-a201-cd8fd3e1e49e&quot;"/>
    <we:property name="reportName" value="&quot;Consumer Complaints for PPT&quot;"/>
    <we:property name="reportState" value="&quot;CONNECTED&quot;"/>
    <we:property name="embedUrl" value="&quot;/reportEmbed?reportId=3132799d-d56f-47b7-ba3e-27bf9622e23d&amp;config=eyJjbHVzdGVyVXJsIjoiaHR0cHM6Ly9XQUJJLVNPVVRILUFGUklDQS1OT1JUSC1BLVBSSU1BUlktcmVkaXJlY3QuYW5hbHlzaXMud2luZG93cy5uZXQiLCJlbWJlZEZlYXR1cmVzIjp7Im1vZGVybkVtYmVkIjp0cnVlLCJ1c2FnZU1ldHJpY3NWTmV4dCI6dHJ1ZX19&amp;disableSensitivityBanner=true&quot;"/>
    <we:property name="pageName" value="&quot;ReportSectionf52403a7d4b996115742&quot;"/>
    <we:property name="pageDisplayName" value="&quot;Page 5&quot;"/>
    <we:property name="datasetId" value="&quot;c410b94c-3969-4a28-89e5-016251bec109&quot;"/>
    <we:property name="backgroundColor" value="&quot;#FFFFFF&quot;"/>
    <we:property name="bookmark" value="&quot;H4sIAAAAAAAAA9VUTW/bMAz9K4PORuF8I7mlbnrpV5AMvQyBQdu0q1aWBEnO6gX+76Nkt+u6Q3frlkvER4p8j6R8YgW3WkB7CzWyFTtX6qkG8/RlxCImB+zu7upmvbtKb9c3G4KVdlxJy1Yn5sBU6O65bUD4DAR+O0QMhNhC5a0ShMWIaTRWSRD8B/bB5HKmwS5i+KyFMuBT7h049GmPFE421R6dTagi5I4fcY+569EdamXcYJez8TSewKKYZsvlfDSaLaZjumN7b6D5cbwvGoglSjrgkgh4rJyXeTFdFBAvsjiOJ/NxvAw4F24IydrNszakm7rRat+vhFRUyvAcBAv6DNpezoklSjR1OG1+w/eqMTnusAwu6bhrfSaBILFIiZRtajR0qGlYXDrLOurd1ijqbB9KHpBtSjk1RWPqVJoP10Lsg/qeGCRqBVvFXfTKdl0cQeaEvqe6riqDFbjB3PwjOi4bOazB7E9ZB0Isl5UY1uzXXL/2avPAO3kA4/wmZ4+0E36MdE+ZAs15GyZ5wc3Lso2jdxL/h750h5dHQyke37yEYTd7lZ9F9tCF39v+M/JU4e2rxlkNOW6pWGCp+7wcQxztKMjCTzucjf+/5vQY+2Hfg2j8nMN3h4UiNH+eCfzbCwO9nwkXkMwZBQAA&quot;"/>
    <we:property name="initialStateBookmark" value="&quot;H4sIAAAAAAAAA9VUTW/bMAz9K4PORuF8I7mlbnrpV5AMvQyBQdu0q1aWBEnO6gX+76Nkt+u6Q3frlkvER4p8j6R8YgW3WkB7CzWyFTtX6qkG8/RlxCImB+zu7upmvbtKb9c3G4KVdlxJy1Yn5sBU6O65bUD4DAR+O0QMhNhC5a0ShMWIaTRWSRD8B/bB5HKmwS5i+KyFMuBT7h049GmPFE421R6dTagi5I4fcY+569EdamXcYJez8TSewKKYZsvlfDSaLaZjumN7b6D5cbwvGoglSjrgkgh4rJyXeTFdFBAvsjiOJ/NxvAw4F24IydrNszakm7rRat+vhFRUyvAcBAv6DNpezoklSjR1OG1+w/eqMTnusAwu6bhrfSaBILFIiZRtajR0qGlYXDrLOurd1ijqbB9KHpBtSjk1RWPqVJoP10Lsg/qeGCRqBVvFXfTKdl0cQeaEvqe6riqDFbjB3PwjOi4bOazB7E9ZB0Isl5UY1uzXXL/2avPAO3kA4/wmZ4+0E36MdE+ZAs15GyZ5wc3Lso2jdxL/h750h5dHQyke37yEYTd7lZ9F9tCF39v+M/JU4e2rxlkNOW6pWGCp+7wcQxztKMjCTzucjf+/5vQY+2Hfg2j8nMN3h4UiNH+eCfzbCwO9nwkXkMwZBQAA&quot;"/>
    <we:property name="isFooterCollapsed" value="true"/>
    <we:property name="isFiltersActionButtonVisible" value="false"/>
    <we:property name="reportEmbeddedTime" value="&quot;2023-02-26T11:50:20.219Z&quot;"/>
    <we:property name="creatorUserId" value="&quot;1003200231FE1A01&quot;"/>
    <we:property name="creatorSessionId" value="&quot;dff0094d-c9f9-4db1-9a95-9a80550c0fe5&quot;"/>
  </we:properties>
  <we:bindings/>
  <we:snapshot xmlns:r="http://schemas.openxmlformats.org/officeDocument/2006/relationships" r:embed="rId1"/>
</we:webextension>
</file>

<file path=ppt/webextensions/webextension6.xml><?xml version="1.0" encoding="utf-8"?>
<we:webextension xmlns:we="http://schemas.microsoft.com/office/webextensions/webextension/2010/11" id="{64E97567-DAF2-4079-A8C3-92122C5C174D}">
  <we:reference id="wa200003233" version="2.0.0.3" store="en-US" storeType="OMEX"/>
  <we:alternateReferences>
    <we:reference id="wa200003233" version="2.0.0.3" store="wa200003233" storeType="OMEX"/>
  </we:alternateReferences>
  <we:properties>
    <we:property name="creatorTenantId" value="&quot;94c611e1-0207-4c90-a201-cd8fd3e1e49e&quot;"/>
    <we:property name="reportUrl" value="&quot;/groups/me/reports/3132799d-d56f-47b7-ba3e-27bf9622e23d/ReportSection630bfcbdc65ac0c5226a?ctid=94c611e1-0207-4c90-a201-cd8fd3e1e49e&quot;"/>
    <we:property name="reportName" value="&quot;Consumer Complaints for PPT&quot;"/>
    <we:property name="reportState" value="&quot;CONNECTED&quot;"/>
    <we:property name="embedUrl" value="&quot;/reportEmbed?reportId=3132799d-d56f-47b7-ba3e-27bf9622e23d&amp;config=eyJjbHVzdGVyVXJsIjoiaHR0cHM6Ly9XQUJJLVNPVVRILUFGUklDQS1OT1JUSC1BLVBSSU1BUlktcmVkaXJlY3QuYW5hbHlzaXMud2luZG93cy5uZXQiLCJlbWJlZEZlYXR1cmVzIjp7Im1vZGVybkVtYmVkIjp0cnVlLCJ1c2FnZU1ldHJpY3NWTmV4dCI6dHJ1ZX19&amp;disableSensitivityBanner=true&quot;"/>
    <we:property name="pageName" value="&quot;ReportSection630bfcbdc65ac0c5226a&quot;"/>
    <we:property name="pageDisplayName" value="&quot;Page 6&quot;"/>
    <we:property name="datasetId" value="&quot;c410b94c-3969-4a28-89e5-016251bec109&quot;"/>
    <we:property name="backgroundColor" value="&quot;#FFFFFF&quot;"/>
    <we:property name="bookmark" value="&quot;H4sIAAAAAAAAA9VUTW/bMAz9K4POxuC4S9rmlnrZpWsbJEMvRWDQMu2qlSVDH1m9wP99lOxiXQdsu3XLJRJJke+Rjz6ySthOQn8NLbIlu9D6sQXz+G7GEqYm283N5dVqe1lcr67WZNadE1pZtjwyB6ZBdyusBxkykPFunzCQcgNNuNUgLSasQ2O1Aim+4RhMLmc8DgnDp05qAyHlzoHDkPZA4XSn2rP3J1QRuBMH3CF3o3WLnTZuui9O0rLmZcUXc+Apn2fZAuiNHb0R5p/jQ9EILNfKgVAEINiyD2d1Nq/hPE3PZ4DlGZyeBnstpJtCyn791BniTd3ou9CvnFg02ggOkkV+Bu1I58hyLX0bT+uf7DvtDcct1tGlnHB9yCQRFFYFgbK+RUOHloYllLNsoN5tjKbOjqHkAdUXlLOjaCycLvj0LMbe66+5QYJWsWU6JG+LdufLVjjCUhwE/BbeqjqA4mR9jW3VNAYbcNN1/Y+0+ZNXk0rnv9Lak8UK1chpC37I7svIlktvSVhYjQTyezAubFz5QNoNcqME2lRoLvqouI/CPC9Flrzi+j80aNg/LzeleHixsZMqR5ZvBXY/xN/L/jPyNPEbpb2zHXDcULGIshvzCoxxJFZQVRh7PJvw/1nQbMep34L0YeDx+8hiERKCKCX+7YMJ3nfCv/5RwQUAAA==&quot;"/>
    <we:property name="initialStateBookmark" value="&quot;H4sIAAAAAAAAA9VUTW/bMAz9K4POxuC4S9rmlnrZpWsbJEMvRWDQMu2qlSVDH1m9wP99lOxiXQdsu3XLJRJJke+Rjz6ySthOQn8NLbIlu9D6sQXz+G7GEqYm283N5dVqe1lcr67WZNadE1pZtjwyB6ZBdyusBxkykPFunzCQcgNNuNUgLSasQ2O1Aim+4RhMLmc8DgnDp05qAyHlzoHDkPZA4XSn2rP3J1QRuBMH3CF3o3WLnTZuui9O0rLmZcUXc+Apn2fZAuiNHb0R5p/jQ9EILNfKgVAEINiyD2d1Nq/hPE3PZ4DlGZyeBnstpJtCyn791BniTd3ou9CvnFg02ggOkkV+Bu1I58hyLX0bT+uf7DvtDcct1tGlnHB9yCQRFFYFgbK+RUOHloYllLNsoN5tjKbOjqHkAdUXlLOjaCycLvj0LMbe66+5QYJWsWU6JG+LdufLVjjCUhwE/BbeqjqA4mR9jW3VNAYbcNN1/Y+0+ZNXk0rnv9Lak8UK1chpC37I7svIlktvSVhYjQTyezAubFz5QNoNcqME2lRoLvqouI/CPC9Flrzi+j80aNg/LzeleHixsZMqR5ZvBXY/xN/L/jPyNPEbpb2zHXDcULGIshvzCoxxJFZQVRh7PJvw/1nQbMep34L0YeDx+8hiERKCKCX+7YMJ3nfCv/5RwQUAAA==&quot;"/>
    <we:property name="isFooterCollapsed" value="true"/>
    <we:property name="isFiltersActionButtonVisible" value="false"/>
    <we:property name="reportEmbeddedTime" value="&quot;2023-02-26T11:52:44.851Z&quot;"/>
    <we:property name="creatorUserId" value="&quot;1003200231FE1A01&quot;"/>
    <we:property name="creatorSessionId" value="&quot;67d04d6d-37ce-4f57-9369-8eaaa1f7e6ca&quot;"/>
  </we:properties>
  <we:bindings/>
  <we:snapshot xmlns:r="http://schemas.openxmlformats.org/officeDocument/2006/relationships" r:embed="rId1"/>
</we:webextension>
</file>

<file path=ppt/webextensions/webextension7.xml><?xml version="1.0" encoding="utf-8"?>
<we:webextension xmlns:we="http://schemas.microsoft.com/office/webextensions/webextension/2010/11" id="{6C0791DD-2724-4576-9DDC-A9503D106BE1}">
  <we:reference id="wa200003233" version="2.0.0.3" store="en-US" storeType="OMEX"/>
  <we:alternateReferences>
    <we:reference id="wa200003233" version="2.0.0.3" store="wa200003233" storeType="OMEX"/>
  </we:alternateReferences>
  <we:properties>
    <we:property name="creatorTenantId" value="&quot;94c611e1-0207-4c90-a201-cd8fd3e1e49e&quot;"/>
    <we:property name="reportUrl" value="&quot;/groups/me/reports/3132799d-d56f-47b7-ba3e-27bf9622e23d/ReportSection2d696741d0bb5008b20a?ctid=94c611e1-0207-4c90-a201-cd8fd3e1e49e&quot;"/>
    <we:property name="reportName" value="&quot;Consumer Complaints for PPT&quot;"/>
    <we:property name="reportState" value="&quot;CONNECTED&quot;"/>
    <we:property name="embedUrl" value="&quot;/reportEmbed?reportId=3132799d-d56f-47b7-ba3e-27bf9622e23d&amp;config=eyJjbHVzdGVyVXJsIjoiaHR0cHM6Ly9XQUJJLVNPVVRILUFGUklDQS1OT1JUSC1BLVBSSU1BUlktcmVkaXJlY3QuYW5hbHlzaXMud2luZG93cy5uZXQiLCJlbWJlZEZlYXR1cmVzIjp7Im1vZGVybkVtYmVkIjp0cnVlLCJ1c2FnZU1ldHJpY3NWTmV4dCI6dHJ1ZX19&amp;disableSensitivityBanner=true&quot;"/>
    <we:property name="pageName" value="&quot;ReportSection2d696741d0bb5008b20a&quot;"/>
    <we:property name="pageDisplayName" value="&quot;Page 7&quot;"/>
    <we:property name="datasetId" value="&quot;c410b94c-3969-4a28-89e5-016251bec109&quot;"/>
    <we:property name="backgroundColor" value="&quot;#FFFFFF&quot;"/>
    <we:property name="bookmark" value="&quot;H4sIAAAAAAAAA+VVTW/bMAz9K4POxmC7+WhyGVIvu3Rtg6ToZQgC2mJctbJkSHJWL8h/HyU769YV6E5rh50sUY/kIx8J7xkXtpbQXkKFbMrOtL6vwNy/S1jEVG+7ujq/mC3PN5ezizmZde2EVpZN98yBKdHdCNuA9BHI+GUdMZByAaW/bUFajFiNxmoFUnzDDkxPzjR4iBg+1FIb8CFXDhz6sDuC051yJ+9PKCMUTuxwhYXrrEustXH9PeWjyWg8SHic58M4Ps3TGMjHdq+B5st4nzQQy7RyIBQR8LZtkp4kxSAmME8naTwc4TjYhXQ9JG/nD7Whuqkbbe37lVEVpTaiAMlCfQZtV86eZVo2VTjNf7GvdGMKXOI2PCknXOsjSQSFfEOkbFOhoUNFYgnlLDtQ7xZGU2c76BHi9Wwc8g8Bcau/ZgaJEGfT+BD94DjjO1AFWZ8SnJWlwRJcf52/KvtPjeolH/5ezJosVqhS9iP1qOF1V2MR2Ga3YJyf2vyO9PeSkZ82HM1ZG1T7KMxxsNLoSWFvtxuH9XEtyPHup1nvp6+r7e9SXB88apIMkoLjBIYDHPPTOB8n8DZ35lpUKNsNhawJjP/UxjzL/T/dl5d78crb8gxBvythXR77zChIGf5/unG2hgIXlCAwq7tYAgOO5g8U96qGs/Hfz4KWqxP1BmTj9Qz/XhaSkM4il/inDj2971fh1isdCAAA&quot;"/>
    <we:property name="initialStateBookmark" value="&quot;H4sIAAAAAAAAA+VVTW/bMAz9K4POxmC7+WhyGVIvu3Rtg6ToZQgC2mJctbJkSHJWL8h/HyU769YV6E5rh50sUY/kIx8J7xkXtpbQXkKFbMrOtL6vwNy/S1jEVG+7ujq/mC3PN5ezizmZde2EVpZN98yBKdHdCNuA9BHI+GUdMZByAaW/bUFajFiNxmoFUnzDDkxPzjR4iBg+1FIb8CFXDhz6sDuC051yJ+9PKCMUTuxwhYXrrEustXH9PeWjyWg8SHic58M4Ps3TGMjHdq+B5st4nzQQy7RyIBQR8LZtkp4kxSAmME8naTwc4TjYhXQ9JG/nD7Whuqkbbe37lVEVpTaiAMlCfQZtV86eZVo2VTjNf7GvdGMKXOI2PCknXOsjSQSFfEOkbFOhoUNFYgnlLDtQ7xZGU2c76BHi9Wwc8g8Bcau/ZgaJEGfT+BD94DjjO1AFWZ8SnJWlwRJcf52/KvtPjeolH/5ezJosVqhS9iP1qOF1V2MR2Ga3YJyf2vyO9PeSkZ82HM1ZG1T7KMxxsNLoSWFvtxuH9XEtyPHup1nvp6+r7e9SXB88apIMkoLjBIYDHPPTOB8n8DZ35lpUKNsNhawJjP/UxjzL/T/dl5d78crb8gxBvythXR77zChIGf5/unG2hgIXlCAwq7tYAgOO5g8U96qGs/Hfz4KWqxP1BmTj9Qz/XhaSkM4il/inDj2971fh1isdCAAA&quot;"/>
    <we:property name="isFooterCollapsed" value="true"/>
    <we:property name="isFiltersActionButtonVisible" value="false"/>
    <we:property name="reportEmbeddedTime" value="&quot;2023-02-26T12:08:00.322Z&quot;"/>
    <we:property name="creatorUserId" value="&quot;1003200231FE1A01&quot;"/>
    <we:property name="creatorSessionId" value="&quot;0623eb28-cd54-4036-b73f-1bd5704f6c73&quot;"/>
  </we:properties>
  <we:bindings/>
  <we:snapshot xmlns:r="http://schemas.openxmlformats.org/officeDocument/2006/relationships" r:embed="rId1"/>
</we:webextension>
</file>

<file path=ppt/webextensions/webextension8.xml><?xml version="1.0" encoding="utf-8"?>
<we:webextension xmlns:we="http://schemas.microsoft.com/office/webextensions/webextension/2010/11" id="{4B48BC32-009F-49FB-9824-CAEA7B37863F}">
  <we:reference id="wa200003233" version="2.0.0.3" store="en-US" storeType="OMEX"/>
  <we:alternateReferences>
    <we:reference id="wa200003233" version="2.0.0.3" store="wa200003233" storeType="OMEX"/>
  </we:alternateReferences>
  <we:properties>
    <we:property name="creatorTenantId" value="&quot;94c611e1-0207-4c90-a201-cd8fd3e1e49e&quot;"/>
    <we:property name="reportUrl" value="&quot;/groups/me/reports/3132799d-d56f-47b7-ba3e-27bf9622e23d/ReportSection7b861465c2ea0d029dd8?ctid=94c611e1-0207-4c90-a201-cd8fd3e1e49e&quot;"/>
    <we:property name="reportName" value="&quot;Consumer Complaints for PPT&quot;"/>
    <we:property name="reportState" value="&quot;CONNECTED&quot;"/>
    <we:property name="embedUrl" value="&quot;/reportEmbed?reportId=3132799d-d56f-47b7-ba3e-27bf9622e23d&amp;config=eyJjbHVzdGVyVXJsIjoiaHR0cHM6Ly9XQUJJLVNPVVRILUFGUklDQS1OT1JUSC1BLVBSSU1BUlktcmVkaXJlY3QuYW5hbHlzaXMud2luZG93cy5uZXQiLCJlbWJlZEZlYXR1cmVzIjp7Im1vZGVybkVtYmVkIjp0cnVlLCJ1c2FnZU1ldHJpY3NWTmV4dCI6dHJ1ZX19&amp;disableSensitivityBanner=true&quot;"/>
    <we:property name="pageName" value="&quot;ReportSection7b861465c2ea0d029dd8&quot;"/>
    <we:property name="pageDisplayName" value="&quot;Page 8&quot;"/>
    <we:property name="datasetId" value="&quot;c410b94c-3969-4a28-89e5-016251bec109&quot;"/>
    <we:property name="backgroundColor" value="&quot;#FFFFFF&quot;"/>
    <we:property name="bookmark" value="&quot;H4sIAAAAAAAAA81UyW7bMBD9lYJnoZAXqY5vjuoARZrEsIsARWEEI3GsMKFIgaRcq4b+vUNKRlP30FxS1BfPPM7yZtORcWFrCe0tVMjm7FLr5wrM87sRi5gasLu765vF+vrhdnGzJFjXTmhl2fzIHJgS3b2wDUgfgcBv24iBlCsovbYDaTFiNRqrFUjxA3tjenKmwS5ieKilNuBDbhw49GH3ZE465R69n1BGKJzY4wYL16NrrLVxg/4hn6WjaZoUY4SYx+MLzmfkY/vXQPPv9j5pIJZp5UAoIuAxTHEKecrjZEISibMkENwJ6QaTvF0eakN1H0/9ugqPSZKkSbzL+ai4SPiMT9PJmGi5tvY2GVVaaiMKkCz0wKDtSz6yTMumCtLyN3yjG1PgGnfhSTnhWh9JIijkD0TcNhUaEioaqFDOso76uzKauh9MSeRN4QL8qL9nBokFZ/NRFx1PxBZ8D6og9JzVoiwNluAGdflvKH+ytsEAXjVqGP/4nH/8Gv5vRvErgvmjpXG3JcQKVcph43+t2JeeqaQtyx7BOH9S+RMtp98n8tKGo7lsw0p9FOa09ePojPl/NZFuezpTsn16cXvDpvflvPUQtl34vWwoI8cyHK1unK2hwBUFDWzq3l9gf+uHGhT3wwuy8f+fBV1yP7t7kI0fW/iisZCExilyia91GOj9BDuUFvhzBQAA&quot;"/>
    <we:property name="initialStateBookmark" value="&quot;H4sIAAAAAAAAA81UyW7bMBD9lYJnoZAXqY5vjuoARZrEsIsARWEEI3GsMKFIgaRcq4b+vUNKRlP30FxS1BfPPM7yZtORcWFrCe0tVMjm7FLr5wrM87sRi5gasLu765vF+vrhdnGzJFjXTmhl2fzIHJgS3b2wDUgfgcBv24iBlCsovbYDaTFiNRqrFUjxA3tjenKmwS5ieKilNuBDbhw49GH3ZE465R69n1BGKJzY4wYL16NrrLVxg/4hn6WjaZoUY4SYx+MLzmfkY/vXQPPv9j5pIJZp5UAoIuAxTHEKecrjZEISibMkENwJ6QaTvF0eakN1H0/9ugqPSZKkSbzL+ai4SPiMT9PJmGi5tvY2GVVaaiMKkCz0wKDtSz6yTMumCtLyN3yjG1PgGnfhSTnhWh9JIijkD0TcNhUaEioaqFDOso76uzKauh9MSeRN4QL8qL9nBokFZ/NRFx1PxBZ8D6og9JzVoiwNluAGdflvKH+ytsEAXjVqGP/4nH/8Gv5vRvErgvmjpXG3JcQKVcph43+t2JeeqaQtyx7BOH9S+RMtp98n8tKGo7lsw0p9FOa09ePojPl/NZFuezpTsn16cXvDpvflvPUQtl34vWwoI8cyHK1unK2hwBUFDWzq3l9gf+uHGhT3wwuy8f+fBV1yP7t7kI0fW/iisZCExilyia91GOj9BDuUFvhzBQAA&quot;"/>
    <we:property name="isFooterCollapsed" value="true"/>
    <we:property name="isFiltersActionButtonVisible" value="false"/>
    <we:property name="reportEmbeddedTime" value="&quot;2023-02-26T11:58:29.100Z&quot;"/>
    <we:property name="creatorUserId" value="&quot;1003200231FE1A01&quot;"/>
    <we:property name="creatorSessionId" value="&quot;a640ec23-9367-489a-acab-6dc21ff22952&quot;"/>
  </we:properties>
  <we:bindings/>
  <we:snapshot xmlns:r="http://schemas.openxmlformats.org/officeDocument/2006/relationships" r:embed="rId1"/>
</we:webextension>
</file>

<file path=ppt/webextensions/webextension9.xml><?xml version="1.0" encoding="utf-8"?>
<we:webextension xmlns:we="http://schemas.microsoft.com/office/webextensions/webextension/2010/11" id="{4D742D89-5C35-4995-AE56-A9CC0E049C12}">
  <we:reference id="wa200003233" version="2.0.0.3" store="en-US" storeType="OMEX"/>
  <we:alternateReferences>
    <we:reference id="wa200003233" version="2.0.0.3" store="wa200003233" storeType="OMEX"/>
  </we:alternateReferences>
  <we:properties>
    <we:property name="creatorTenantId" value="&quot;94c611e1-0207-4c90-a201-cd8fd3e1e49e&quot;"/>
    <we:property name="reportUrl" value="&quot;/groups/me/reports/3132799d-d56f-47b7-ba3e-27bf9622e23d/ReportSection0dfbb9f2b40b6b640033?ctid=94c611e1-0207-4c90-a201-cd8fd3e1e49e&quot;"/>
    <we:property name="reportName" value="&quot;Consumer Complaints for PPT&quot;"/>
    <we:property name="reportState" value="&quot;CONNECTED&quot;"/>
    <we:property name="embedUrl" value="&quot;/reportEmbed?reportId=3132799d-d56f-47b7-ba3e-27bf9622e23d&amp;config=eyJjbHVzdGVyVXJsIjoiaHR0cHM6Ly9XQUJJLVNPVVRILUFGUklDQS1OT1JUSC1BLVBSSU1BUlktcmVkaXJlY3QuYW5hbHlzaXMud2luZG93cy5uZXQiLCJlbWJlZEZlYXR1cmVzIjp7Im1vZGVybkVtYmVkIjp0cnVlLCJ1c2FnZU1ldHJpY3NWTmV4dCI6dHJ1ZX19&amp;disableSensitivityBanner=true&quot;"/>
    <we:property name="pageName" value="&quot;ReportSection0dfbb9f2b40b6b640033&quot;"/>
    <we:property name="pageDisplayName" value="&quot;Page 9&quot;"/>
    <we:property name="datasetId" value="&quot;c410b94c-3969-4a28-89e5-016251bec109&quot;"/>
    <we:property name="backgroundColor" value="&quot;#FFFFFF&quot;"/>
    <we:property name="bookmark" value="&quot;H4sIAAAAAAAAA+VWUWvbMBD+K0PPZjiJ7cZ9S7MURtc2JKMwRghn6+yqlS0jyVmzkP/ek+yQrWxsDLq17MmnT3enT3ff2d4xLkwjYXsFFbJTdqbUfQX6/s2ABazusevri8vJ4mJ9NbmcEawaK1Rt2OmOWdAl2hthWpAuA4GfVwEDKedQulUB0mDAGtRG1SDFV+ycacvqFvcBw4dGKg0u5dKCRZd2Q+60prMHb0d0IuRWbHCJue3QBTZK234d8iLL0mKYRWGWZEkUhiMXY7pdT/PX/u5QT2yqaguiJgIOSyEZFUMoxpiGnCdhNI5ThxdC2t4l284eGk333h3qde434zhO4rDI+CBPYz7mUTIaEi27bZzPlG5aKi1ykMzXQKPprrxjUyXbyluz7/ClanWOCyz8Vm2F3bpMEqFGvibipq1Qk1FRQ0VtDdtTfedaUfW9K5m8za2Hb9WXqUZiwdlpuA92B2ITvoE6J/Qpq0lZaizB9svZ36H83pgWPXje1n37h3/E/9kofkLQPyjpihAj6lL2ij9K7GPHVJLKpregrRup7I7E6fREUUpz1GdbL6l3Qh9UPwyeMH9RHdmvDmNKvnffzF6v9O46z92E1d7hRTxOMcr5CQz5SZrlg2gw/vnUvh7hx69C+EdK/+Qlt2yzSljist4I+M/nMn5Jc+lH81hQRoGl/9qr1poGcpxTUs+m6eIFej/SDdTcNc/b2j0/CBrkrnc3IFvXNv+nwfwh1E6RSfzdgJ7eI9qszj0LCQAA&quot;"/>
    <we:property name="initialStateBookmark" value="&quot;H4sIAAAAAAAAA+VWUWvbMBD+K0PPZjiJ7cZ9S7MURtc2JKMwRghn6+yqlS0jyVmzkP/ek+yQrWxsDLq17MmnT3enT3ff2d4xLkwjYXsFFbJTdqbUfQX6/s2ABazusevri8vJ4mJ9NbmcEawaK1Rt2OmOWdAl2hthWpAuA4GfVwEDKedQulUB0mDAGtRG1SDFV+ycacvqFvcBw4dGKg0u5dKCRZd2Q+60prMHb0d0IuRWbHCJue3QBTZK234d8iLL0mKYRWGWZEkUhiMXY7pdT/PX/u5QT2yqaguiJgIOSyEZFUMoxpiGnCdhNI5ThxdC2t4l284eGk333h3qde434zhO4rDI+CBPYz7mUTIaEi27bZzPlG5aKi1ykMzXQKPprrxjUyXbyluz7/ClanWOCyz8Vm2F3bpMEqFGvibipq1Qk1FRQ0VtDdtTfedaUfW9K5m8za2Hb9WXqUZiwdlpuA92B2ITvoE6J/Qpq0lZaizB9svZ36H83pgWPXje1n37h3/E/9kofkLQPyjpihAj6lL2ij9K7GPHVJLKpregrRup7I7E6fREUUpz1GdbL6l3Qh9UPwyeMH9RHdmvDmNKvnffzF6v9O46z92E1d7hRTxOMcr5CQz5SZrlg2gw/vnUvh7hx69C+EdK/+Qlt2yzSljist4I+M/nMn5Jc+lH81hQRoGl/9qr1poGcpxTUs+m6eIFej/SDdTcNc/b2j0/CBrkrnc3IFvXNv+nwfwh1E6RSfzdgJ7eI9qszj0LCQAA&quot;"/>
    <we:property name="isFooterCollapsed" value="true"/>
    <we:property name="isFiltersActionButtonVisible" value="false"/>
    <we:property name="reportEmbeddedTime" value="&quot;2023-02-26T12:00:59.814Z&quot;"/>
    <we:property name="creatorUserId" value="&quot;1003200231FE1A01&quot;"/>
    <we:property name="creatorSessionId" value="&quot;201b7d1c-92f2-4072-9b93-7ed5679698e6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2313</TotalTime>
  <Words>314</Words>
  <Application>Microsoft Office PowerPoint</Application>
  <PresentationFormat>Widescreen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Gabriel Adeleke</dc:creator>
  <cp:lastModifiedBy>Gabriel Adeleke</cp:lastModifiedBy>
  <cp:revision>21</cp:revision>
  <dcterms:created xsi:type="dcterms:W3CDTF">2023-02-16T17:02:25Z</dcterms:created>
  <dcterms:modified xsi:type="dcterms:W3CDTF">2023-02-26T12:09:36Z</dcterms:modified>
</cp:coreProperties>
</file>